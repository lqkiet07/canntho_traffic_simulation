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4" r:id="rId4"/>
    <p:sldId id="264" r:id="rId5"/>
    <p:sldId id="263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657" autoAdjust="0"/>
    <p:restoredTop sz="94140" autoAdjust="0"/>
  </p:normalViewPr>
  <p:slideViewPr>
    <p:cSldViewPr snapToGrid="0" showGuides="1">
      <p:cViewPr>
        <p:scale>
          <a:sx n="66" d="100"/>
          <a:sy n="66" d="100"/>
        </p:scale>
        <p:origin x="267" y="105"/>
      </p:cViewPr>
      <p:guideLst>
        <p:guide orient="horz" pos="2160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7C948-8673-4DB3-9A98-5446FF5ABAB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248AE-A379-4F6C-95B1-94250F274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77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248AE-A379-4F6C-95B1-94250F2743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6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248AE-A379-4F6C-95B1-94250F2743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76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49B7-A5BA-68A6-50DC-D262C7BA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A85BD-E295-3F40-0C44-633A5AFF6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B4D0A-4350-92DF-B127-EBC2B1089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9F03F-B45C-17CF-9561-27985F2B1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248AE-A379-4F6C-95B1-94250F2743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4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66A8-7649-D489-E596-89D29F2EB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F5EFD-24A3-AC24-4C61-929C1C834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6AFD-C233-B5D9-2865-1981F178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83B47-B975-5716-28CE-20EC1FB5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CCF4-F37F-AC4A-7C72-BB25AA21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A236-2CFA-46CF-3172-DED996D7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AD87B-98ED-2A84-8F9E-2F99D10DD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E7B16-FB58-5103-D96D-817C6FF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1B9BF-F310-F629-986D-27ACAA6B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E856C-9D17-6B5E-F50B-B9E57A86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EA71-9DE7-20F5-4735-95F84D64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11467-3FED-9EB2-3753-7D4CFE91A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8C493-8E9F-EFF8-049D-B7CBFBAB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DC5D7-DD93-766F-51CB-218847E4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54AC-22CE-069F-4488-6D8DF8EE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E9CD-022E-7474-1A7D-7EEF94D0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9CA55-F647-A2C2-F090-2BC71BFCD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8B844-F9C7-755F-69E3-5465DF2B8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4A8DF-7BD3-FDB4-AC56-ADFC163F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A54F6-57BA-375A-672C-5B09A7FC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8386B-4F5D-A8CE-8AB3-E77F2B3A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1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FEC75-4A1C-690E-4FE4-AFA2B4A26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F0D0D-2A84-0AC6-09BD-2B4CFAE08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09AF7-3277-8BB7-7C7C-D1AACDD83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187E1-F49F-A48E-6732-A4A1209F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B3203-064B-134A-C0AD-C65522FE2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BDE1A-040C-0116-0AD7-699F64AB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B4D83-44CD-D5A4-9DD0-F9A4BB44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389D4-DA48-36E9-7C37-E2DB6D2F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5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7846-B219-B62B-6B85-DA26DC50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99315-463F-AF1B-E133-2745B534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F6861-1F41-47B4-237F-C36DADD3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DCA7C-8C0C-823E-61DD-CB336E0C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6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5D30D-8401-59D1-F714-8A17C809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86A68-4ADF-8846-6382-4B5E850F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9297B-AA35-2D7B-A75F-EA19B922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3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803B-CE56-5655-7C58-5930F76B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3094-12DE-98EC-7D1D-D367976E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47C7A-5A28-AEE5-5077-F7A06703C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8CFEC-F11F-B957-932E-E26C17B6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02A7-9E34-900F-22E2-FD29F3AF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9DD8E-425C-6D09-40D0-402EF9D6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0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FE68-0B69-B7BE-C598-71631EF05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88ED5-98D9-7C55-285A-610449C45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DB425-CA53-C968-5C8A-823CFAD59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EE03B-FAE1-A918-F5FB-FF40E891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5CA36-FF5E-63C6-FA47-989D8214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EB958-2005-F923-11C7-DEBE0580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0B9F-CED3-F937-05D6-1993C55E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E2F4E-9AAC-2148-605E-7B8D35F41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36949-A80E-59E0-ED05-F09F5273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5954-577F-D69F-C86A-67D23712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2445-48D4-AB0B-F311-40CFC3D0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6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FC608-8E4E-EB13-A691-F93CEEC9F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BEA5E-FEF7-EE2D-AFE2-DC7E090AA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B7DFB-B4B2-2631-51CE-53D1EF72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9859-9452-039D-340A-D76B63AA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969B2-9050-009B-54EA-89BF96A8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0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586AC-D1B0-D358-5A16-E0402D4E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4478-5D8A-5887-ADF8-EFE3EA6D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7F2-C04A-3689-A61E-020BE27CC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8166F-0060-4C2E-A49C-880235AF346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AD5C-668F-E36F-B677-8234A78BC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AA929-A93B-0D26-A43B-CF42E3BDD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0D5BF-89D8-4C87-A977-18316B9A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9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4972C1-62D3-AEBA-04B0-7814F5B8B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127" y="1528406"/>
            <a:ext cx="1799746" cy="1799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C3F729-7E1A-78C3-ED4E-8A0325474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420" y="2346634"/>
            <a:ext cx="11655159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4400" b="1" dirty="0">
                <a:solidFill>
                  <a:srgbClr val="00B0F0"/>
                </a:solidFill>
                <a:latin typeface="K2D" panose="00000500000000000000" pitchFamily="2" charset="-34"/>
                <a:cs typeface="K2D" panose="00000500000000000000" pitchFamily="2" charset="-34"/>
              </a:rPr>
              <a:t>BÁO CÁO TIẾN ĐỘ NGHIÊN CỨU</a:t>
            </a:r>
            <a:br>
              <a:rPr lang="vi-VN" sz="4400" b="1" dirty="0">
                <a:solidFill>
                  <a:srgbClr val="00B0F0"/>
                </a:solidFill>
                <a:latin typeface="K2D" panose="00000500000000000000" pitchFamily="2" charset="-34"/>
                <a:cs typeface="K2D" panose="00000500000000000000" pitchFamily="2" charset="-34"/>
              </a:rPr>
            </a:br>
            <a:r>
              <a:rPr lang="vi-VN" sz="2800" b="1" dirty="0">
                <a:solidFill>
                  <a:srgbClr val="00B0F0"/>
                </a:solidFill>
                <a:latin typeface="K2D" panose="00000500000000000000" pitchFamily="2" charset="-34"/>
                <a:cs typeface="K2D" panose="00000500000000000000" pitchFamily="2" charset="-34"/>
              </a:rPr>
              <a:t>(LẦN 2)</a:t>
            </a:r>
            <a:endParaRPr lang="en-US" sz="4400" b="1" dirty="0">
              <a:solidFill>
                <a:srgbClr val="00B0F0"/>
              </a:solidFill>
              <a:latin typeface="K2D" panose="00000500000000000000" pitchFamily="2" charset="-34"/>
              <a:cs typeface="K2D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5573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DD0F-0783-CD43-00C3-E6115D52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CE9B7-3CC7-6BFE-2696-D398EB570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400"/>
            <a:ext cx="12257314" cy="6908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625882-EA4A-A12A-A511-D4A618E37948}"/>
              </a:ext>
            </a:extLst>
          </p:cNvPr>
          <p:cNvSpPr/>
          <p:nvPr/>
        </p:nvSpPr>
        <p:spPr>
          <a:xfrm>
            <a:off x="-184150" y="-25400"/>
            <a:ext cx="12441464" cy="688340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6D81EF-5518-FCD6-1DED-BE107189C462}"/>
              </a:ext>
            </a:extLst>
          </p:cNvPr>
          <p:cNvSpPr/>
          <p:nvPr/>
        </p:nvSpPr>
        <p:spPr>
          <a:xfrm>
            <a:off x="371659" y="327830"/>
            <a:ext cx="6035040" cy="869739"/>
          </a:xfrm>
          <a:prstGeom prst="rect">
            <a:avLst/>
          </a:prstGeom>
          <a:solidFill>
            <a:schemeClr val="accent1">
              <a:alpha val="85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92170-FA83-AEAD-C1C7-68C9AF69AD8C}"/>
              </a:ext>
            </a:extLst>
          </p:cNvPr>
          <p:cNvSpPr txBox="1"/>
          <p:nvPr/>
        </p:nvSpPr>
        <p:spPr>
          <a:xfrm>
            <a:off x="548639" y="455735"/>
            <a:ext cx="633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chemeClr val="bg1"/>
                </a:solidFill>
                <a:latin typeface="k2d"/>
              </a:rPr>
              <a:t>Đặc thù giao thông Việt Nam: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C8F223-AB4F-996C-B876-14C84B580ADA}"/>
              </a:ext>
            </a:extLst>
          </p:cNvPr>
          <p:cNvSpPr/>
          <p:nvPr/>
        </p:nvSpPr>
        <p:spPr>
          <a:xfrm>
            <a:off x="722671" y="1269264"/>
            <a:ext cx="3836055" cy="543396"/>
          </a:xfrm>
          <a:prstGeom prst="roundRect">
            <a:avLst/>
          </a:prstGeom>
          <a:solidFill>
            <a:srgbClr val="FF0000">
              <a:alpha val="65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D48E0-99FF-F9CC-36B9-793E26298A0F}"/>
              </a:ext>
            </a:extLst>
          </p:cNvPr>
          <p:cNvSpPr txBox="1"/>
          <p:nvPr/>
        </p:nvSpPr>
        <p:spPr>
          <a:xfrm>
            <a:off x="787564" y="1260035"/>
            <a:ext cx="3771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  <a:latin typeface="k2d"/>
              </a:rPr>
              <a:t>Đa dạng phương tiện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1EE96D-FF84-7E74-0A3F-5F80FA3A199A}"/>
              </a:ext>
            </a:extLst>
          </p:cNvPr>
          <p:cNvSpPr/>
          <p:nvPr/>
        </p:nvSpPr>
        <p:spPr>
          <a:xfrm>
            <a:off x="722670" y="2008812"/>
            <a:ext cx="3836055" cy="543396"/>
          </a:xfrm>
          <a:prstGeom prst="roundRect">
            <a:avLst/>
          </a:prstGeom>
          <a:solidFill>
            <a:srgbClr val="FF0000">
              <a:alpha val="65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73897-9D3C-4B1A-F4C8-18C52F059965}"/>
              </a:ext>
            </a:extLst>
          </p:cNvPr>
          <p:cNvSpPr txBox="1"/>
          <p:nvPr/>
        </p:nvSpPr>
        <p:spPr>
          <a:xfrm>
            <a:off x="866654" y="2008812"/>
            <a:ext cx="2273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  <a:latin typeface="k2d"/>
              </a:rPr>
              <a:t>Hỗn loạn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77C095-70AF-A868-9C12-946449F5A6F8}"/>
              </a:ext>
            </a:extLst>
          </p:cNvPr>
          <p:cNvSpPr/>
          <p:nvPr/>
        </p:nvSpPr>
        <p:spPr>
          <a:xfrm>
            <a:off x="722670" y="2748360"/>
            <a:ext cx="3836055" cy="543396"/>
          </a:xfrm>
          <a:prstGeom prst="roundRect">
            <a:avLst/>
          </a:prstGeom>
          <a:solidFill>
            <a:srgbClr val="FF0000">
              <a:alpha val="65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803B2-7111-9C86-5476-DC7247588CA6}"/>
              </a:ext>
            </a:extLst>
          </p:cNvPr>
          <p:cNvSpPr txBox="1"/>
          <p:nvPr/>
        </p:nvSpPr>
        <p:spPr>
          <a:xfrm>
            <a:off x="823660" y="2728184"/>
            <a:ext cx="34481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  <a:latin typeface="k2d"/>
              </a:rPr>
              <a:t>Tỷ lệ xe máy cao</a:t>
            </a:r>
            <a:endParaRPr lang="en-US" sz="2800" b="1" dirty="0">
              <a:solidFill>
                <a:schemeClr val="bg1"/>
              </a:solidFill>
              <a:latin typeface="k2d"/>
            </a:endParaRPr>
          </a:p>
        </p:txBody>
      </p:sp>
    </p:spTree>
    <p:extLst>
      <p:ext uri="{BB962C8B-B14F-4D97-AF65-F5344CB8AC3E}">
        <p14:creationId xmlns:p14="http://schemas.microsoft.com/office/powerpoint/2010/main" val="376125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1" grpId="0" animBg="1"/>
      <p:bldP spid="6" grpId="0"/>
      <p:bldP spid="15" grpId="0" animBg="1"/>
      <p:bldP spid="8" grpId="0"/>
      <p:bldP spid="16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2E35-1E7F-FF44-1D6A-00DBEF0E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2D84F8-DA5B-85D5-8B43-299C5F5B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88" y="1362075"/>
            <a:ext cx="11898023" cy="395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29CBB-A3A1-72ED-616D-59713755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404F2F-79B5-9BB5-B794-4C379E588A96}"/>
              </a:ext>
            </a:extLst>
          </p:cNvPr>
          <p:cNvSpPr txBox="1"/>
          <p:nvPr/>
        </p:nvSpPr>
        <p:spPr>
          <a:xfrm>
            <a:off x="971550" y="615401"/>
            <a:ext cx="4404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2D" panose="00000800000000000000" pitchFamily="2" charset="-34"/>
              <a:ea typeface="+mn-ea"/>
              <a:cs typeface="K2D" panose="00000800000000000000" pitchFamily="2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F53A1E-EE48-53E7-87F5-763E0F369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2" r="807" b="3564"/>
          <a:stretch>
            <a:fillRect/>
          </a:stretch>
        </p:blipFill>
        <p:spPr>
          <a:xfrm>
            <a:off x="95229" y="923751"/>
            <a:ext cx="6153846" cy="502907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9245ECF-E632-CA51-9304-040E8F516C74}"/>
              </a:ext>
            </a:extLst>
          </p:cNvPr>
          <p:cNvGrpSpPr/>
          <p:nvPr/>
        </p:nvGrpSpPr>
        <p:grpSpPr>
          <a:xfrm>
            <a:off x="6249077" y="785514"/>
            <a:ext cx="5654256" cy="5286971"/>
            <a:chOff x="6358379" y="1105078"/>
            <a:chExt cx="4862071" cy="454624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C9581D9-8661-0A02-E135-C400B4C41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8379" y="1105078"/>
              <a:ext cx="4862071" cy="4546244"/>
            </a:xfrm>
            <a:prstGeom prst="rect">
              <a:avLst/>
            </a:prstGeom>
          </p:spPr>
        </p:pic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BD9793-D17B-4D95-AE51-39EB0A51A382}"/>
                </a:ext>
              </a:extLst>
            </p:cNvPr>
            <p:cNvSpPr/>
            <p:nvPr/>
          </p:nvSpPr>
          <p:spPr>
            <a:xfrm>
              <a:off x="7424057" y="3541486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B085488-BC4C-6F3B-B435-B9D0ED78A5E3}"/>
                </a:ext>
              </a:extLst>
            </p:cNvPr>
            <p:cNvSpPr/>
            <p:nvPr/>
          </p:nvSpPr>
          <p:spPr>
            <a:xfrm>
              <a:off x="8703056" y="2227943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6413B00-1501-794C-FFBC-A75C8EA4BA37}"/>
                </a:ext>
              </a:extLst>
            </p:cNvPr>
            <p:cNvSpPr/>
            <p:nvPr/>
          </p:nvSpPr>
          <p:spPr>
            <a:xfrm>
              <a:off x="9535886" y="1444172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A326657-1EE4-FA51-0CB1-F9DD51DC2310}"/>
                </a:ext>
              </a:extLst>
            </p:cNvPr>
            <p:cNvSpPr/>
            <p:nvPr/>
          </p:nvSpPr>
          <p:spPr>
            <a:xfrm>
              <a:off x="8616698" y="4457343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5CC840B-C35B-FBA9-F548-BADE5FC253BA}"/>
                </a:ext>
              </a:extLst>
            </p:cNvPr>
            <p:cNvSpPr/>
            <p:nvPr/>
          </p:nvSpPr>
          <p:spPr>
            <a:xfrm>
              <a:off x="8991600" y="4543700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DE7FF7D-FDBC-C34F-2DAC-FCE98B0C12FF}"/>
                </a:ext>
              </a:extLst>
            </p:cNvPr>
            <p:cNvSpPr/>
            <p:nvPr/>
          </p:nvSpPr>
          <p:spPr>
            <a:xfrm>
              <a:off x="8215085" y="4927600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6FCC1D3-2C5C-B97D-775C-5E4D90FDE107}"/>
                </a:ext>
              </a:extLst>
            </p:cNvPr>
            <p:cNvSpPr/>
            <p:nvPr/>
          </p:nvSpPr>
          <p:spPr>
            <a:xfrm>
              <a:off x="8443983" y="5145315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630A785-5FCA-DBBF-571F-0DE17649108A}"/>
                </a:ext>
              </a:extLst>
            </p:cNvPr>
            <p:cNvSpPr/>
            <p:nvPr/>
          </p:nvSpPr>
          <p:spPr>
            <a:xfrm>
              <a:off x="9577244" y="3213470"/>
              <a:ext cx="172715" cy="1727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271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CE82E-C159-21A7-6127-F5136F3A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2F9A7611-9CB0-0400-1129-8B0BAEDFF3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842ECB-CBCA-02E0-89C3-48F1EF64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C2CF1-4C0C-F95E-0DE7-01E99113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D62A8-7A78-7AB7-03E0-A67D894C6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" t="1" r="411" b="1"/>
          <a:stretch>
            <a:fillRect/>
          </a:stretch>
        </p:blipFill>
        <p:spPr>
          <a:xfrm>
            <a:off x="0" y="153682"/>
            <a:ext cx="12209709" cy="6704318"/>
          </a:xfrm>
          <a:prstGeom prst="rect">
            <a:avLst/>
          </a:prstGeom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0AFCAFE7-EBEF-B5CB-83DA-E60F24C051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9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5CC93-0950-C576-75D9-A404CE3B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5E99C7-2367-570B-A710-3D9FB73A0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ECCC065-6EF1-A536-0EE0-0E75EB3534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D07220-1EB7-F181-BFF7-6F4938BB7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3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C5CAD-5FF5-CBED-7053-1AC11AA7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274651-34CC-D232-FFAD-685A6E4C5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9893BD4-28E7-B928-A9D2-4A7A7D383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D8966-9BB8-726B-F014-3AA68B5AA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2385"/>
            <a:ext cx="12190476" cy="532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7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32</Words>
  <Application>Microsoft Office PowerPoint</Application>
  <PresentationFormat>Widescreen</PresentationFormat>
  <Paragraphs>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K2D</vt:lpstr>
      <vt:lpstr>K2D</vt:lpstr>
      <vt:lpstr>Office Theme</vt:lpstr>
      <vt:lpstr>BÁO CÁO TIẾN ĐỘ NGHIÊN CỨU (LẦN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he</dc:creator>
  <cp:lastModifiedBy>Trân Nguyễn</cp:lastModifiedBy>
  <cp:revision>6</cp:revision>
  <dcterms:created xsi:type="dcterms:W3CDTF">2026-05-11T08:52:28Z</dcterms:created>
  <dcterms:modified xsi:type="dcterms:W3CDTF">2026-05-12T21:34:44Z</dcterms:modified>
</cp:coreProperties>
</file>